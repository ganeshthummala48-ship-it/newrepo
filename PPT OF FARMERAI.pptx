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00000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 Italics" charset="1" panose="020B0503030501040103"/>
      <p:regular r:id="rId16"/>
    </p:embeddedFont>
    <p:embeddedFont>
      <p:font typeface="Canva Sans Bold Italics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804" y="593192"/>
            <a:ext cx="514121" cy="219670"/>
          </a:xfrm>
          <a:custGeom>
            <a:avLst/>
            <a:gdLst/>
            <a:ahLst/>
            <a:cxnLst/>
            <a:rect r="r" b="b" t="t" l="l"/>
            <a:pathLst>
              <a:path h="219670" w="514121">
                <a:moveTo>
                  <a:pt x="0" y="0"/>
                </a:moveTo>
                <a:lnTo>
                  <a:pt x="514121" y="0"/>
                </a:lnTo>
                <a:lnTo>
                  <a:pt x="514121" y="219671"/>
                </a:lnTo>
                <a:lnTo>
                  <a:pt x="0" y="219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6358" y="594517"/>
            <a:ext cx="1926211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Ginyard International Co.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26492" y="594517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70696" y="594517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9939" y="594517"/>
            <a:ext cx="735456" cy="19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4180" y="594517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688046" y="592626"/>
            <a:ext cx="331412" cy="220803"/>
          </a:xfrm>
          <a:custGeom>
            <a:avLst/>
            <a:gdLst/>
            <a:ahLst/>
            <a:cxnLst/>
            <a:rect r="r" b="b" t="t" l="l"/>
            <a:pathLst>
              <a:path h="220803" w="331412">
                <a:moveTo>
                  <a:pt x="0" y="0"/>
                </a:moveTo>
                <a:lnTo>
                  <a:pt x="331412" y="0"/>
                </a:lnTo>
                <a:lnTo>
                  <a:pt x="331412" y="220803"/>
                </a:lnTo>
                <a:lnTo>
                  <a:pt x="0" y="22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3684" y="318662"/>
            <a:ext cx="6243374" cy="9968338"/>
            <a:chOff x="0" y="0"/>
            <a:chExt cx="8324498" cy="1329111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6"/>
            <a:srcRect l="6011" t="0" r="47014" b="0"/>
            <a:stretch>
              <a:fillRect/>
            </a:stretch>
          </p:blipFill>
          <p:spPr>
            <a:xfrm flipH="false" flipV="false">
              <a:off x="0" y="0"/>
              <a:ext cx="8324498" cy="13291117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6427058" y="318662"/>
            <a:ext cx="3146958" cy="9968338"/>
            <a:chOff x="0" y="0"/>
            <a:chExt cx="4195944" cy="13291117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6"/>
            <a:srcRect l="64895" t="0" r="11427" b="0"/>
            <a:stretch>
              <a:fillRect/>
            </a:stretch>
          </p:blipFill>
          <p:spPr>
            <a:xfrm flipH="false" flipV="false">
              <a:off x="0" y="0"/>
              <a:ext cx="4195944" cy="13291117"/>
            </a:xfrm>
            <a:prstGeom prst="rect">
              <a:avLst/>
            </a:prstGeom>
          </p:spPr>
        </p:pic>
      </p:grpSp>
      <p:sp>
        <p:nvSpPr>
          <p:cNvPr name="TextBox 13" id="13"/>
          <p:cNvSpPr txBox="true"/>
          <p:nvPr/>
        </p:nvSpPr>
        <p:spPr>
          <a:xfrm rot="0">
            <a:off x="9860551" y="1245167"/>
            <a:ext cx="7029688" cy="197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9" indent="-410205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Empowering the Future of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Agriculture through Artificial 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4016" y="4925060"/>
            <a:ext cx="8836581" cy="536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NAME:- AGRI-VISION</a:t>
            </a:r>
          </a:p>
          <a:p>
            <a:pPr algn="ctr">
              <a:lnSpc>
                <a:spcPts val="4620"/>
              </a:lnSpc>
            </a:pP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T.GANESH                  -25H55A0544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B.RISHIKA SRI         -24H51A05HH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A.VASAVI                    -24H51A05P9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Y.AJAY KUMAR         -24H51A05P6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939" y="2367978"/>
            <a:ext cx="14006783" cy="126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839" indent="-263420" lvl="1">
              <a:lnSpc>
                <a:spcPts val="3416"/>
              </a:lnSpc>
              <a:buFont typeface="Arial"/>
              <a:buChar char="•"/>
            </a:pPr>
            <a:r>
              <a:rPr lang="en-US" sz="2440" i="true" strike="noStrike" u="non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Many farmers still depend on traditional methods and personal experience, leading</a:t>
            </a:r>
            <a:r>
              <a:rPr lang="en-US" sz="2440" i="true" strike="noStrike" u="non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</a:p>
          <a:p>
            <a:pPr algn="ctr">
              <a:lnSpc>
                <a:spcPts val="3416"/>
              </a:lnSpc>
            </a:pPr>
            <a:r>
              <a:rPr lang="en-US" sz="2440" i="true" strike="noStrike" u="non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</a:t>
            </a:r>
            <a:r>
              <a:rPr lang="en-US" sz="2440" i="true" strike="noStrike" u="non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unsuitable crop choices and low productivity. Limited access to   </a:t>
            </a:r>
            <a:r>
              <a:rPr lang="en-US" sz="2440" i="true" strike="noStrike" u="non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timely information also        delays disease detection, causing crop damage and financial loss.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847478" y="952500"/>
            <a:ext cx="10218901" cy="70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5"/>
              </a:lnSpc>
              <a:spcBef>
                <a:spcPct val="0"/>
              </a:spcBef>
            </a:pPr>
            <a:r>
              <a:rPr lang="en-US" b="true" sz="41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939" y="3782760"/>
            <a:ext cx="1792206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Farmers often choose crops without real-time guidance, resulting in poor yields and higher risks. Late identification of crop diseases further harms production and reduces income</a:t>
            </a: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9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6666" t="0" r="1666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234804" y="593192"/>
            <a:ext cx="514121" cy="219670"/>
          </a:xfrm>
          <a:custGeom>
            <a:avLst/>
            <a:gdLst/>
            <a:ahLst/>
            <a:cxnLst/>
            <a:rect r="r" b="b" t="t" l="l"/>
            <a:pathLst>
              <a:path h="219670" w="514121">
                <a:moveTo>
                  <a:pt x="0" y="0"/>
                </a:moveTo>
                <a:lnTo>
                  <a:pt x="514121" y="0"/>
                </a:lnTo>
                <a:lnTo>
                  <a:pt x="514121" y="219671"/>
                </a:lnTo>
                <a:lnTo>
                  <a:pt x="0" y="219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90845" y="1751487"/>
            <a:ext cx="8897155" cy="78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81" indent="-243590" lvl="1">
              <a:lnSpc>
                <a:spcPts val="3159"/>
              </a:lnSpc>
              <a:buFont typeface="Arial"/>
              <a:buChar char="•"/>
            </a:pP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Farmers rely on visual experience or local "experts" for disease   diagnosis.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0845" y="2859407"/>
            <a:ext cx="8897155" cy="78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81" indent="-243590" lvl="1">
              <a:lnSpc>
                <a:spcPts val="3159"/>
              </a:lnSpc>
              <a:buFont typeface="Arial"/>
              <a:buChar char="•"/>
            </a:pP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Information seeking requires physical visits to government     offices or fertilizer shops.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0782" y="3942410"/>
            <a:ext cx="9736444" cy="118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81" indent="-243590" lvl="1">
              <a:lnSpc>
                <a:spcPts val="3159"/>
              </a:lnSpc>
              <a:buFont typeface="Arial"/>
              <a:buChar char="•"/>
            </a:pP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Contracting for tractors or labour is done through  </a:t>
            </a:r>
          </a:p>
          <a:p>
            <a:pPr algn="l">
              <a:lnSpc>
                <a:spcPts val="3159"/>
              </a:lnSpc>
              <a:spcBef>
                <a:spcPct val="0"/>
              </a:spcBef>
            </a:pP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word-of-mouth </a:t>
            </a: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with no price transparency.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390845" y="5086769"/>
            <a:ext cx="8897155" cy="78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81" indent="-243590" lvl="1">
              <a:lnSpc>
                <a:spcPts val="3159"/>
              </a:lnSpc>
              <a:spcBef>
                <a:spcPct val="0"/>
              </a:spcBef>
              <a:buFont typeface="Arial"/>
              <a:buChar char="•"/>
            </a:pP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Recommendations for crop rotation are often based on habit </a:t>
            </a:r>
            <a:r>
              <a:rPr lang="en-US" sz="225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rather than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65473" y="197500"/>
            <a:ext cx="5149765" cy="86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6"/>
              </a:lnSpc>
              <a:spcBef>
                <a:spcPct val="0"/>
              </a:spcBef>
            </a:pPr>
            <a:r>
              <a:rPr lang="en-US" b="true" sz="50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340878"/>
            <a:ext cx="8115300" cy="3802622"/>
            <a:chOff x="0" y="0"/>
            <a:chExt cx="10820400" cy="507016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5219" r="0" b="14449"/>
            <a:stretch>
              <a:fillRect/>
            </a:stretch>
          </p:blipFill>
          <p:spPr>
            <a:xfrm flipH="false" flipV="false">
              <a:off x="0" y="0"/>
              <a:ext cx="10820400" cy="5070163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9144000" y="5457825"/>
            <a:ext cx="8115300" cy="4829175"/>
            <a:chOff x="0" y="0"/>
            <a:chExt cx="10820400" cy="64389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0" t="2995" r="0" b="7688"/>
            <a:stretch>
              <a:fillRect/>
            </a:stretch>
          </p:blipFill>
          <p:spPr>
            <a:xfrm flipH="false" flipV="false">
              <a:off x="0" y="0"/>
              <a:ext cx="10820400" cy="6438900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289100" y="2520185"/>
            <a:ext cx="7958614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Slow Response: By the time a disease is identified,</a:t>
            </a:r>
          </a:p>
          <a:p>
            <a:pPr algn="l">
              <a:lnSpc>
                <a:spcPts val="3079"/>
              </a:lnSpc>
            </a:pP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it has often spread to the entire field.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Economic Loss: Overspending on incorrect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</a:t>
            </a:r>
            <a:r>
              <a:rPr lang="en-US" sz="22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pesticides due to wrong diagnosis.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Limited Reach: Paper-driven systems exclude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farmers</a:t>
            </a:r>
            <a:r>
              <a:rPr lang="en-US" sz="21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who cannot travel or read complex documents.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772871" y="946542"/>
            <a:ext cx="11985164" cy="7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Drawbacks of Existing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804" y="593192"/>
            <a:ext cx="514121" cy="219670"/>
          </a:xfrm>
          <a:custGeom>
            <a:avLst/>
            <a:gdLst/>
            <a:ahLst/>
            <a:cxnLst/>
            <a:rect r="r" b="b" t="t" l="l"/>
            <a:pathLst>
              <a:path h="219670" w="514121">
                <a:moveTo>
                  <a:pt x="0" y="0"/>
                </a:moveTo>
                <a:lnTo>
                  <a:pt x="514121" y="0"/>
                </a:lnTo>
                <a:lnTo>
                  <a:pt x="514121" y="219671"/>
                </a:lnTo>
                <a:lnTo>
                  <a:pt x="0" y="219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603" y="482607"/>
            <a:ext cx="15168500" cy="6834833"/>
          </a:xfrm>
          <a:custGeom>
            <a:avLst/>
            <a:gdLst/>
            <a:ahLst/>
            <a:cxnLst/>
            <a:rect r="r" b="b" t="t" l="l"/>
            <a:pathLst>
              <a:path h="6834833" w="15168500">
                <a:moveTo>
                  <a:pt x="0" y="0"/>
                </a:moveTo>
                <a:lnTo>
                  <a:pt x="15168501" y="0"/>
                </a:lnTo>
                <a:lnTo>
                  <a:pt x="15168501" y="6834833"/>
                </a:lnTo>
                <a:lnTo>
                  <a:pt x="0" y="6834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417" r="0" b="-1241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6358" y="594517"/>
            <a:ext cx="1926211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Ginyard International Co.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70696" y="594517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9939" y="594517"/>
            <a:ext cx="735456" cy="19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4180" y="594517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232" y="7729491"/>
            <a:ext cx="14778871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Multi-lingual Interface: Full support for Telugu, Hindi, and English.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Disease Detection: Real-time diagnosis using a phone camera and Deep Learning.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Recommendations: AI-driven advice for crops, schemes, and rotation based on soil and season.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Service Marketplace: A digital platform to hire machinery and labour with an integrated AI Negotiation Tool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Alert System: An alerting system which alerts the farmer for climate changes.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Govt Shemes also included.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925" y="406407"/>
            <a:ext cx="8706844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System (Farmer AI)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391" y="2459657"/>
            <a:ext cx="18668783" cy="6977458"/>
          </a:xfrm>
          <a:custGeom>
            <a:avLst/>
            <a:gdLst/>
            <a:ahLst/>
            <a:cxnLst/>
            <a:rect r="r" b="b" t="t" l="l"/>
            <a:pathLst>
              <a:path h="6977458" w="18668783">
                <a:moveTo>
                  <a:pt x="0" y="0"/>
                </a:moveTo>
                <a:lnTo>
                  <a:pt x="18668782" y="0"/>
                </a:lnTo>
                <a:lnTo>
                  <a:pt x="18668782" y="6977458"/>
                </a:lnTo>
                <a:lnTo>
                  <a:pt x="0" y="6977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6823" y="487851"/>
            <a:ext cx="4386501" cy="90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 CHART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61434" y="1028700"/>
            <a:ext cx="8697866" cy="8229600"/>
            <a:chOff x="0" y="0"/>
            <a:chExt cx="11597155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209" t="0" r="15340" b="0"/>
            <a:stretch>
              <a:fillRect/>
            </a:stretch>
          </p:blipFill>
          <p:spPr>
            <a:xfrm flipH="false" flipV="false">
              <a:off x="0" y="0"/>
              <a:ext cx="11597155" cy="109728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74498" y="2341741"/>
            <a:ext cx="8318897" cy="466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Frontend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Flutter (for a premium, cross-platform </a:t>
            </a:r>
          </a:p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mobile experience).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Backend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FastAPI (Python) - High-performance</a:t>
            </a:r>
          </a:p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engine for AI processing.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AI/ML:</a:t>
            </a:r>
          </a:p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TensorFlow: For image-based plant disease detection.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Cohere API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Large Language Model (LLM) for personalized</a:t>
            </a:r>
          </a:p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farming advice and negotiation.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Database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SQLAlchemy with SQLite for efficient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management.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518" y="1551799"/>
            <a:ext cx="5684163" cy="8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804" y="593192"/>
            <a:ext cx="514121" cy="219670"/>
          </a:xfrm>
          <a:custGeom>
            <a:avLst/>
            <a:gdLst/>
            <a:ahLst/>
            <a:cxnLst/>
            <a:rect r="r" b="b" t="t" l="l"/>
            <a:pathLst>
              <a:path h="219670" w="514121">
                <a:moveTo>
                  <a:pt x="0" y="0"/>
                </a:moveTo>
                <a:lnTo>
                  <a:pt x="514121" y="0"/>
                </a:lnTo>
                <a:lnTo>
                  <a:pt x="514121" y="219671"/>
                </a:lnTo>
                <a:lnTo>
                  <a:pt x="0" y="219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88046" y="592626"/>
            <a:ext cx="331412" cy="220803"/>
          </a:xfrm>
          <a:custGeom>
            <a:avLst/>
            <a:gdLst/>
            <a:ahLst/>
            <a:cxnLst/>
            <a:rect r="r" b="b" t="t" l="l"/>
            <a:pathLst>
              <a:path h="220803" w="331412">
                <a:moveTo>
                  <a:pt x="0" y="0"/>
                </a:moveTo>
                <a:lnTo>
                  <a:pt x="331412" y="0"/>
                </a:lnTo>
                <a:lnTo>
                  <a:pt x="331412" y="220803"/>
                </a:lnTo>
                <a:lnTo>
                  <a:pt x="0" y="22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6"/>
            <a:srcRect l="0" t="7547" r="0" b="7547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028700" y="2447702"/>
            <a:ext cx="14977824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</a:t>
            </a:r>
          </a:p>
          <a:p>
            <a:pPr algn="l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harvest loss via early detection.</a:t>
            </a:r>
          </a:p>
          <a:p>
            <a:pPr algn="l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Increases income through informed crop selection and fair market negotiation.</a:t>
            </a:r>
          </a:p>
          <a:p>
            <a:pPr algn="l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Democratizes technology for rural farmers.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Roadmap: Integration with IoT soil sensors and real-time weather analytics for even more precision.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5867" y="718179"/>
            <a:ext cx="4710289" cy="8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DAHEA1P_mwc</dc:identifier>
  <dcterms:modified xsi:type="dcterms:W3CDTF">2011-08-01T06:04:30Z</dcterms:modified>
  <cp:revision>1</cp:revision>
  <dc:title>www.reallygreatsite.com</dc:title>
</cp:coreProperties>
</file>